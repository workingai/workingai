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890a7d51c4475c" /><Relationship Type="http://schemas.openxmlformats.org/officeDocument/2006/relationships/extended-properties" Target="/docProps/app.xml" Id="Re8a22836a7ab4b69" /><Relationship Type="http://schemas.openxmlformats.org/officeDocument/2006/relationships/officeDocument" Target="/ppt/presentation.xml" Id="Rcc7bc0028c2c4e80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6de849c63fa643c7"/>
  </p:sldMasterIdLst>
  <p:notesMasterIdLst>
    <p:notesMasterId xmlns:r="http://schemas.openxmlformats.org/officeDocument/2006/relationships" r:id="R0829267188454e96"/>
  </p:notesMasterIdLst>
  <p:sldIdLst>
    <p:sldId xmlns:r="http://schemas.openxmlformats.org/officeDocument/2006/relationships" id="256" r:id="R873c8a10c1fc4155"/>
    <p:sldId xmlns:r="http://schemas.openxmlformats.org/officeDocument/2006/relationships" id="257" r:id="R3c20547275c7405f"/>
    <p:sldId xmlns:r="http://schemas.openxmlformats.org/officeDocument/2006/relationships" id="258" r:id="R5bea6ef2c9ea4589"/>
    <p:sldId xmlns:r="http://schemas.openxmlformats.org/officeDocument/2006/relationships" id="259" r:id="R10b6392b4cbf41a2"/>
    <p:sldId xmlns:r="http://schemas.openxmlformats.org/officeDocument/2006/relationships" id="260" r:id="Raf8fe57a8fdb4f3f"/>
    <p:sldId xmlns:r="http://schemas.openxmlformats.org/officeDocument/2006/relationships" id="261" r:id="R573453c28f87493d"/>
    <p:sldId xmlns:r="http://schemas.openxmlformats.org/officeDocument/2006/relationships" id="262" r:id="R30bbfd66a0ed4a4c"/>
    <p:sldId xmlns:r="http://schemas.openxmlformats.org/officeDocument/2006/relationships" id="263" r:id="R9bdbd6516b914938"/>
    <p:sldId xmlns:r="http://schemas.openxmlformats.org/officeDocument/2006/relationships" id="264" r:id="R5304dbbea75f4ca1"/>
    <p:sldId xmlns:r="http://schemas.openxmlformats.org/officeDocument/2006/relationships" id="265" r:id="Re3c394e851564053"/>
  </p:sldIdLst>
  <p:sldSz cx="9144000" cy="5143500"/>
  <p:notesSz cx="6858000" cy="9144000"/>
  <p:embeddedFontLst>
    <p:embeddedFont>
      <p:font typeface="Space Grotesk"/>
      <p:regular xmlns:r="http://schemas.openxmlformats.org/officeDocument/2006/relationships" r:id="R9d6245c77aa5423e"/>
    </p:embeddedFont>
    <p:embeddedFont>
      <p:font typeface="Space Mono"/>
      <p:regular xmlns:r="http://schemas.openxmlformats.org/officeDocument/2006/relationships" r:id="R3f0c84d3a58c4f8a"/>
    </p:embeddedFont>
  </p:embeddedFontLst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dbf6d6adb441c8" /><Relationship Type="http://schemas.openxmlformats.org/officeDocument/2006/relationships/slideMaster" Target="/ppt/slideMasters/slideMaster1.xml" Id="R6de849c63fa643c7" /><Relationship Type="http://schemas.openxmlformats.org/officeDocument/2006/relationships/notesMaster" Target="/ppt/notesMasters/notesMaster1.xml" Id="R0829267188454e96" /><Relationship Type="http://schemas.openxmlformats.org/officeDocument/2006/relationships/presProps" Target="/ppt/presProps.xml" Id="R1e59963ffe704112" /><Relationship Type="http://schemas.openxmlformats.org/officeDocument/2006/relationships/viewProps" Target="/ppt/viewProps.xml" Id="Rb442dfb0c2574b16" /><Relationship Type="http://schemas.openxmlformats.org/officeDocument/2006/relationships/tableStyles" Target="/ppt/tableStyles.xml" Id="Rb6b2e2b7b6564d8f" /><Relationship Type="http://schemas.openxmlformats.org/officeDocument/2006/relationships/font" Target="/ppt/fonts/font.dat" Id="R9d6245c77aa5423e" /><Relationship Type="http://schemas.openxmlformats.org/officeDocument/2006/relationships/font" Target="/ppt/fonts/font2.dat" Id="R3f0c84d3a58c4f8a" /><Relationship Type="http://schemas.openxmlformats.org/officeDocument/2006/relationships/slide" Target="/ppt/slides/slide1.xml" Id="R873c8a10c1fc4155" /><Relationship Type="http://schemas.openxmlformats.org/officeDocument/2006/relationships/slide" Target="/ppt/slides/slide2.xml" Id="R3c20547275c7405f" /><Relationship Type="http://schemas.openxmlformats.org/officeDocument/2006/relationships/slide" Target="/ppt/slides/slide3.xml" Id="R5bea6ef2c9ea4589" /><Relationship Type="http://schemas.openxmlformats.org/officeDocument/2006/relationships/slide" Target="/ppt/slides/slide4.xml" Id="R10b6392b4cbf41a2" /><Relationship Type="http://schemas.openxmlformats.org/officeDocument/2006/relationships/slide" Target="/ppt/slides/slide5.xml" Id="Raf8fe57a8fdb4f3f" /><Relationship Type="http://schemas.openxmlformats.org/officeDocument/2006/relationships/slide" Target="/ppt/slides/slide6.xml" Id="R573453c28f87493d" /><Relationship Type="http://schemas.openxmlformats.org/officeDocument/2006/relationships/slide" Target="/ppt/slides/slide7.xml" Id="R30bbfd66a0ed4a4c" /><Relationship Type="http://schemas.openxmlformats.org/officeDocument/2006/relationships/slide" Target="/ppt/slides/slide8.xml" Id="R9bdbd6516b914938" /><Relationship Type="http://schemas.openxmlformats.org/officeDocument/2006/relationships/slide" Target="/ppt/slides/slide9.xml" Id="R5304dbbea75f4ca1" /><Relationship Type="http://schemas.openxmlformats.org/officeDocument/2006/relationships/slide" Target="/ppt/slides/slide10.xml" Id="Re3c394e8515640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e1a68569d845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f9056dfb584c92" /><Relationship Type="http://schemas.openxmlformats.org/officeDocument/2006/relationships/notesMaster" Target="/ppt/notesMasters/notesMaster1.xml" Id="R46120db0963f45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9c0ce374c2479e" /><Relationship Type="http://schemas.openxmlformats.org/officeDocument/2006/relationships/notesMaster" Target="/ppt/notesMasters/notesMaster1.xml" Id="R9f6b3511a94946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f5278440cb4e2f" /><Relationship Type="http://schemas.openxmlformats.org/officeDocument/2006/relationships/notesMaster" Target="/ppt/notesMasters/notesMaster1.xml" Id="R02c1a7bd250443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4ec8815cb6a46eb" /><Relationship Type="http://schemas.openxmlformats.org/officeDocument/2006/relationships/notesMaster" Target="/ppt/notesMasters/notesMaster1.xml" Id="R42b5042034d94d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1b0c149ee842b6" /><Relationship Type="http://schemas.openxmlformats.org/officeDocument/2006/relationships/notesMaster" Target="/ppt/notesMasters/notesMaster1.xml" Id="R187cca7dbac4420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efeca007e54a2f" /><Relationship Type="http://schemas.openxmlformats.org/officeDocument/2006/relationships/notesMaster" Target="/ppt/notesMasters/notesMaster1.xml" Id="R6a8f24f451ae44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3a512bbbc24398" /><Relationship Type="http://schemas.openxmlformats.org/officeDocument/2006/relationships/notesMaster" Target="/ppt/notesMasters/notesMaster1.xml" Id="R73e0e7b042a244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63f7e08ae44aa" /><Relationship Type="http://schemas.openxmlformats.org/officeDocument/2006/relationships/notesMaster" Target="/ppt/notesMasters/notesMaster1.xml" Id="Re6e48ac4c69948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61eeb2329654e3e" /><Relationship Type="http://schemas.openxmlformats.org/officeDocument/2006/relationships/notesMaster" Target="/ppt/notesMasters/notesMaster1.xml" Id="Rd4baea38c4c248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5be702a8d84bb9" /><Relationship Type="http://schemas.openxmlformats.org/officeDocument/2006/relationships/notesMaster" Target="/ppt/notesMasters/notesMaster1.xml" Id="R41746b1db25342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실습용 가상 기업의 업무 자동화 도입 제안서입니다. 모든 수치·인터뷰·화면은 디자인 분석을 위한 예시이며 실제 성과가 아닙니다.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e810a2910424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b8b35d77924a43" /><Relationship Type="http://schemas.openxmlformats.org/officeDocument/2006/relationships/slideLayout" Target="/ppt/slideLayouts/slideLayout1.xml" Id="Ra89ea75f8053492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9ea75f8053492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cc58da9d84f30" /><Relationship Type="http://schemas.openxmlformats.org/officeDocument/2006/relationships/notesSlide" Target="/ppt/notesSlides/notesSlide1.xml" Id="R095d3df14ac049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c6c4811b140bc" /><Relationship Type="http://schemas.openxmlformats.org/officeDocument/2006/relationships/notesSlide" Target="/ppt/notesSlides/notesSlide2.xml" Id="Rbf9fbfe6e5c3482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b977defa242ce" /><Relationship Type="http://schemas.openxmlformats.org/officeDocument/2006/relationships/image" Target="/ppt/media/image.png" Id="R3a217b87e27148d1" /><Relationship Type="http://schemas.openxmlformats.org/officeDocument/2006/relationships/image" Target="/ppt/media/image2.png" Id="Ra9ee6454ffdd47b0" /><Relationship Type="http://schemas.openxmlformats.org/officeDocument/2006/relationships/image" Target="/ppt/media/image3.png" Id="R187eee282f1b438a" /><Relationship Type="http://schemas.openxmlformats.org/officeDocument/2006/relationships/image" Target="/ppt/media/image4.png" Id="Rb2d9bcb682b34294" /><Relationship Type="http://schemas.openxmlformats.org/officeDocument/2006/relationships/image" Target="/ppt/media/image5.png" Id="Rdab5c06d3ed64a83" /><Relationship Type="http://schemas.openxmlformats.org/officeDocument/2006/relationships/notesSlide" Target="/ppt/notesSlides/notesSlide3.xml" Id="Rc1473afcfdaf4a3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409aed12149a9" /><Relationship Type="http://schemas.openxmlformats.org/officeDocument/2006/relationships/notesSlide" Target="/ppt/notesSlides/notesSlide4.xml" Id="Rceef7569aa024bc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71587274f4478" /><Relationship Type="http://schemas.openxmlformats.org/officeDocument/2006/relationships/notesSlide" Target="/ppt/notesSlides/notesSlide5.xml" Id="R24d51aff87e745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06c18bb02a48a9" /><Relationship Type="http://schemas.openxmlformats.org/officeDocument/2006/relationships/notesSlide" Target="/ppt/notesSlides/notesSlide6.xml" Id="Rf28d228749f34f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32f81b1a24546" /><Relationship Type="http://schemas.openxmlformats.org/officeDocument/2006/relationships/notesSlide" Target="/ppt/notesSlides/notesSlide7.xml" Id="Rb269554037a94e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421b354d9433b" /><Relationship Type="http://schemas.openxmlformats.org/officeDocument/2006/relationships/image" Target="/ppt/media/image6.png" Id="R03f86bbf1bc94ddb" /><Relationship Type="http://schemas.openxmlformats.org/officeDocument/2006/relationships/image" Target="/ppt/media/image7.png" Id="R6280683e588a4d93" /><Relationship Type="http://schemas.openxmlformats.org/officeDocument/2006/relationships/image" Target="/ppt/media/image8.png" Id="Rba01fc1d7a224980" /><Relationship Type="http://schemas.openxmlformats.org/officeDocument/2006/relationships/notesSlide" Target="/ppt/notesSlides/notesSlide8.xml" Id="R858469834b3949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82b41bc7d4fc2" /><Relationship Type="http://schemas.openxmlformats.org/officeDocument/2006/relationships/image" Target="/ppt/media/image9.png" Id="R4d6dfe04126c4963" /><Relationship Type="http://schemas.openxmlformats.org/officeDocument/2006/relationships/notesSlide" Target="/ppt/notesSlides/notesSlide9.xml" Id="Rbd5f7c64d51a4f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24e06e4c34a15" /><Relationship Type="http://schemas.openxmlformats.org/officeDocument/2006/relationships/image" Target="/ppt/media/image10.png" Id="R4ed03333a0fb4281" /><Relationship Type="http://schemas.openxmlformats.org/officeDocument/2006/relationships/notesSlide" Target="/ppt/notesSlides/notesSlide10.xml" Id="R75415e6a4ac5488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0B25FE6-6890-4AF9-B89F-E437CD01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028950"/>
            <a:ext cx="8477250" cy="17621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487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6769"/>
              </a:lnSpc>
              <a:buNone/>
              <a:defRPr sz="487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875" b="0" spc="-285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AI 업무 자동화</a:t>
            </a:r>
            <a:endParaRPr sz="712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6769"/>
              </a:lnSpc>
              <a:buNone/>
              <a:defRPr sz="487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875" b="0" spc="-285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도입 제안서</a:t>
            </a:r>
            <a:endParaRPr sz="712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42108-0E7F-464F-BAEE-C48E1C2A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72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2027년 1월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0B5D887-0963-4C93-B83D-56B56D18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9A7BF87-F209-4B7A-B1D4-168F03DE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FFFFFF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01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8363300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0B7BD0A-1885-4D95-B3DC-32544F47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3700463" cy="1628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반복 업무를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숫자로 보다</a:t>
            </a:r>
            <a:endParaRPr sz="427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3A660E5-C58E-45CE-AF45-35135F3E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2447925" cy="12287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주간 보고 업무의 현재 상태와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시험 운영 목표를 정리했습니다.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</a:pPr>
            <a:r>
              <a:rPr sz="1283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/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모든 수치는 실습용 가상 값이며,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도입 효과는 적용 후 검증합니다.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C5B9DBB-20BF-46C7-B1C7-E12A7A85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233363"/>
            <a:ext cx="2976563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6769"/>
              </a:lnSpc>
              <a:buNone/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120</a:t>
            </a:r>
            <a:endParaRPr sz="712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4EF2C65-BEF5-4329-BC65-ADA05C82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04825"/>
            <a:ext cx="1819275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월간 보고 자료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취합 건수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4221A8E-9BAB-44FC-8257-AF58C92F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804988"/>
            <a:ext cx="1819275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현재 소요 시간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주간 보고 1회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932DEFB-34BE-453C-9CB8-BB8CDBDC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76575"/>
            <a:ext cx="1819275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시험 운영 기간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실제 업무 검증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CD36391-F938-498F-A015-3A792FBD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381500"/>
            <a:ext cx="1819275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시간 단축 목표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검수 시간 포함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3DB47E5-2ECE-4594-AFAF-AE950978A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1490663"/>
            <a:ext cx="2976563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6769"/>
              </a:lnSpc>
              <a:buNone/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4h</a:t>
            </a:r>
            <a:endParaRPr sz="712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F63A45-5951-40A9-BB22-33C94767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2790825"/>
            <a:ext cx="2976563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6769"/>
              </a:lnSpc>
              <a:buNone/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4주</a:t>
            </a:r>
            <a:endParaRPr sz="712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8FA1BBA-F889-4DE1-BBCE-A75319D2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1463" y="4010025"/>
            <a:ext cx="2976563" cy="9048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6769"/>
              </a:lnSpc>
              <a:buNone/>
              <a:defRPr sz="48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800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30%</a:t>
            </a:r>
            <a:endParaRPr sz="712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41008133-9E15-4C05-863D-849CF1AB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1314450"/>
            <a:ext cx="4976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24">
            <a:solidFill>
              <a:srgbClr val="000000"/>
            </a:solidFill>
            <a:prstDash val="solid"/>
          </a:ln>
        </p:spPr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2C69D2D4-9438-4854-AE0E-C689BB9E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2571750"/>
            <a:ext cx="4976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24">
            <a:solidFill>
              <a:srgbClr val="000000"/>
            </a:solidFill>
            <a:prstDash val="solid"/>
          </a:ln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8514065-8A89-4103-8FC0-0AEC23E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3905250"/>
            <a:ext cx="4976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24">
            <a:solidFill>
              <a:srgbClr val="000000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D98229A-C624-48FA-8C3B-9DCED186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C71B0A-052F-4577-8930-3404DC4A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02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166986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7E46810-F40B-4B1B-B974-D9C915B1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3743325" cy="1628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 현장에서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발견한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여섯 가지 문제</a:t>
            </a:r>
            <a:endParaRPr sz="427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D6AB45-79A1-459D-98D3-A8674D02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4800"/>
            <a:ext cx="2214563" cy="1338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22E99F9-EB71-4497-9736-D126E4D4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04800"/>
            <a:ext cx="2214563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01 자료 분산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3B6F61D-3814-4D96-9F15-BF09CCA1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619125"/>
            <a:ext cx="2214563" cy="1023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메일과 폴더에 자료가 나뉘어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최신 파일을 찾는 데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시간이 걸립니다.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22647DD0-03CB-46C7-9AFE-5FC82B6A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90713"/>
            <a:ext cx="2214563" cy="1338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0859BE6-5B76-49B2-BA13-1C13782F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890713"/>
            <a:ext cx="2214563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03 반복 입력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AF3C33B-4982-476B-BB6C-3E489F5D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205038"/>
            <a:ext cx="2214563" cy="1023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같은 수치를 여러 문서에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옮겨 적으며 누락과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오입력이 발생합니다.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EC6B6BD-E9C9-471B-9E29-606B07BF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86150"/>
            <a:ext cx="2214563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E1804F1-2ED8-49DB-B24A-4CCE0FA4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86150"/>
            <a:ext cx="2214563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05 수정 반복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DCF6EB1F-A297-4D7B-871D-CA47B646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00475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기준이 달라 보고서를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여러 번 수정합니다.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870E00D-0AA0-4A3C-8F28-1EED07A9E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304800"/>
            <a:ext cx="2214563" cy="13382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D3D3AF3-5193-4552-BDEE-920CBE13C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304800"/>
            <a:ext cx="2214563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02 양식 불일치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F788E308-9ACE-4A9F-9FF8-BACD380DF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619125"/>
            <a:ext cx="2214563" cy="1023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담당자마다 다른 양식을 써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비교와 집계에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추가 작업이 필요합니다.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FE77F97-B3C5-4535-AEDA-5ED95223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1890713"/>
            <a:ext cx="2214563" cy="11334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814ECF7-1EB1-403F-8F0C-BF0C8152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1890713"/>
            <a:ext cx="2214563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04 근거 누락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B7B81E7-3348-47D3-A9B4-B3099A34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2205038"/>
            <a:ext cx="2214563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요약한 수치의 원문과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출처를 다시 찾기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어렵습니다.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62CA563-9EC4-483E-9350-3B65AA24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3486150"/>
            <a:ext cx="2214563" cy="5191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0052F4C-70AD-4263-9BBD-CAD239DB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3486150"/>
            <a:ext cx="2214563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5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57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06 승인 지연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D247DD2C-47C8-4FC9-BFF2-CDEB20E6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6063" y="3800475"/>
            <a:ext cx="2214563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확인 담당자와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승인 시점이 불명확합니다.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1" name="Image 0">
            <a:extLst xmlns:a="http://schemas.openxmlformats.org/drawingml/2006/main">
              <a:ext uri="{FF2B5EF4-FFF2-40B4-BE49-F238E27FC236}">
                <a16:creationId xmlns:a16="http://schemas.microsoft.com/office/drawing/2014/main" id="{72FA970C-7765-41D4-B5C7-CEC9C2A87F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217b87e27148d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62713" y="0"/>
            <a:ext cx="14288" cy="5138742"/>
          </a:xfrm>
          <a:prstGeom xmlns:a="http://schemas.openxmlformats.org/drawingml/2006/main" prst="rect">
            <a:avLst/>
          </a:prstGeom>
        </p:spPr>
      </p:pic>
      <p:pic>
        <p:nvPicPr>
          <p:cNvPr id="22" name="Image 1">
            <a:extLst xmlns:a="http://schemas.openxmlformats.org/drawingml/2006/main">
              <a:ext uri="{FF2B5EF4-FFF2-40B4-BE49-F238E27FC236}">
                <a16:creationId xmlns:a16="http://schemas.microsoft.com/office/drawing/2014/main" id="{31840E38-5BB1-4AB3-AB76-CCD5D64018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ee6454ffdd47b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76687" y="190500"/>
            <a:ext cx="4976813" cy="4763"/>
          </a:xfrm>
          <a:prstGeom xmlns:a="http://schemas.openxmlformats.org/drawingml/2006/main" prst="rect">
            <a:avLst/>
          </a:prstGeom>
        </p:spPr>
      </p:pic>
      <p:pic>
        <p:nvPicPr>
          <p:cNvPr id="23" name="Image 2">
            <a:extLst xmlns:a="http://schemas.openxmlformats.org/drawingml/2006/main">
              <a:ext uri="{FF2B5EF4-FFF2-40B4-BE49-F238E27FC236}">
                <a16:creationId xmlns:a16="http://schemas.microsoft.com/office/drawing/2014/main" id="{4C5676F4-7590-46DA-BC84-4BC38FF64A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7eee282f1b438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76687" y="4948238"/>
            <a:ext cx="4976813" cy="4763"/>
          </a:xfrm>
          <a:prstGeom xmlns:a="http://schemas.openxmlformats.org/drawingml/2006/main" prst="rect">
            <a:avLst/>
          </a:prstGeom>
        </p:spPr>
      </p:pic>
      <p:pic>
        <p:nvPicPr>
          <p:cNvPr id="24" name="Image 3">
            <a:extLst xmlns:a="http://schemas.openxmlformats.org/drawingml/2006/main">
              <a:ext uri="{FF2B5EF4-FFF2-40B4-BE49-F238E27FC236}">
                <a16:creationId xmlns:a16="http://schemas.microsoft.com/office/drawing/2014/main" id="{09E2AD69-1FB3-45F8-8018-3981FBCF1B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9bcb682b3429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76687" y="3362325"/>
            <a:ext cx="4976813" cy="4763"/>
          </a:xfrm>
          <a:prstGeom xmlns:a="http://schemas.openxmlformats.org/drawingml/2006/main" prst="rect">
            <a:avLst/>
          </a:prstGeom>
        </p:spPr>
      </p:pic>
      <p:pic>
        <p:nvPicPr>
          <p:cNvPr id="25" name="Image 4">
            <a:extLst xmlns:a="http://schemas.openxmlformats.org/drawingml/2006/main">
              <a:ext uri="{FF2B5EF4-FFF2-40B4-BE49-F238E27FC236}">
                <a16:creationId xmlns:a16="http://schemas.microsoft.com/office/drawing/2014/main" id="{898B3E04-3391-4C29-9B70-B0ADEB9CFF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5c06d3ed64a8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976687" y="1776413"/>
            <a:ext cx="4976813" cy="4763"/>
          </a:xfrm>
          <a:prstGeom xmlns:a="http://schemas.openxmlformats.org/drawingml/2006/main" prst="rect">
            <a:avLst/>
          </a:prstGeom>
        </p:spPr>
      </p:pic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8AEF9CEB-9FDD-40DD-BF0E-AD5F7F68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83C8C7A2-57C4-4264-8A1B-6E4A3C10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03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439225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8992899-A044-490B-9305-4A1EE28C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3595688" cy="2171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먼저 바꿀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세 가지 업무</a:t>
            </a:r>
            <a:endParaRPr sz="427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44EF515-CFE6-4205-A624-28D72779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1776413"/>
            <a:ext cx="4976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24">
            <a:solidFill>
              <a:srgbClr val="000000"/>
            </a:solidFill>
            <a:prstDash val="solid"/>
          </a:ln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65A2F58-D760-417D-8048-E25B8A0A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190500"/>
            <a:ext cx="4976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24">
            <a:solidFill>
              <a:srgbClr val="000000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1EC6FB3-8A03-453F-8CD4-2A0CBD9C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3362325"/>
            <a:ext cx="4976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24">
            <a:solidFill>
              <a:srgbClr val="000000"/>
            </a:solidFill>
            <a:prstDash val="solid"/>
          </a:ln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BB6D3C53-54C7-4E44-9373-471F03AAF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4948238"/>
            <a:ext cx="49768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524">
            <a:solidFill>
              <a:srgbClr val="000000"/>
            </a:solidFill>
            <a:prstDash val="solid"/>
          </a:ln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ACF4E3A-F943-4D3E-B903-07D98DD2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319088"/>
            <a:ext cx="3700463" cy="1233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8993683-C7E0-4B7E-83D8-0EE2F05D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319088"/>
            <a:ext cx="3700463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01 자료 취합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E8A6A74-6A43-48CB-A299-C9B9524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938213"/>
            <a:ext cx="3700463" cy="6143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지정 폴더의 파일을 모으고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필수 항목과 누락 자료를 확인합니다.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57FD602D-6E27-4905-A6FF-F9C16C3D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1905000"/>
            <a:ext cx="3700463" cy="1233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6E88643-E0CE-4B43-B441-DA639CF3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1905000"/>
            <a:ext cx="3700463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02 보고서 초안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0C227C1-6287-4AE0-9179-2DCADD0A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2524125"/>
            <a:ext cx="3700463" cy="6143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공통 양식에 맞춰 수치를 집계하고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근거가 연결된 보고서 초안을 만듭니다.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294B063-1020-42F7-B235-7B9191F7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7" y="3490913"/>
            <a:ext cx="3700463" cy="1233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4DA8A6E-8E2B-407F-A3E7-5DA47439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3490913"/>
            <a:ext cx="3700463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03 검토와 승인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AED459BB-8E5A-4F8F-A727-EC91DDC5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6688" y="4110038"/>
            <a:ext cx="3700463" cy="6143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사람이 예외 사항과 해석을 검토한 뒤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승인된 결과만 공유합니다.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4A3EE02E-4A5C-4B88-9B35-EF34648E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A2DCBF0-D0E4-4DD3-85E8-5EE62728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04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031419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070EEB4-3A78-4C57-989C-B7477458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0"/>
            <a:ext cx="5243513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ECE0EC0-7992-441D-8786-8463B4B6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0488" y="214313"/>
            <a:ext cx="5243513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72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시험 운영의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핵심 목표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63BC7A1-5C11-4847-8F42-7F3F7C02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1504950"/>
            <a:ext cx="5010150" cy="3390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AFD861C-DCD0-4267-91C5-B56870C0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1504950"/>
            <a:ext cx="5010150" cy="1619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1125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2113"/>
              </a:lnSpc>
              <a:buNone/>
              <a:defRPr sz="1125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1250" b="0" spc="-712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30%</a:t>
            </a:r>
            <a:endParaRPr sz="14250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362454-BFD3-47B6-97FD-27C5BDF7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4788" y="3267075"/>
            <a:ext cx="5010150" cy="1628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330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주간 보고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소요 시간 단축</a:t>
            </a:r>
            <a:endParaRPr sz="427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F1D71DAF-5528-4193-AAE5-31B15EFB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2447925" cy="1238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546CCD7-F8DD-4EEA-AD36-44EAFB62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2447925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현재 4시간인 보고 업무를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2.8시간 이내로 줄이는 것이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목표입니다. 자료 취합부터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최종 검수까지 함께 측정합니다.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D0E8E2B-66B4-4774-B256-9EA089F5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6004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9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ctr">
              <a:lnSpc>
                <a:spcPts val="784"/>
              </a:lnSpc>
              <a:buNone/>
              <a:defRPr sz="9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실습용 목표 · 실제 성과 아님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6140A68-90D7-4ADD-82A7-ECA63AB5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857B49B-39BF-4BF0-9CBF-83AAB8EB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05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014400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7A4FFCA-2E50-4F33-A1FE-4ED2CBCE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3" y="333375"/>
            <a:ext cx="8101013" cy="381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4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6769"/>
              </a:lnSpc>
              <a:buNone/>
              <a:defRPr sz="4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275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“자료를 찾고 옮기는</a:t>
            </a:r>
            <a:endParaRPr sz="712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6769"/>
              </a:lnSpc>
              <a:buNone/>
              <a:defRPr sz="4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275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시간을 줄이고,</a:t>
            </a:r>
            <a:endParaRPr sz="712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6769"/>
              </a:lnSpc>
              <a:buNone/>
              <a:defRPr sz="4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275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판단이 필요한 일에</a:t>
            </a:r>
            <a:endParaRPr sz="712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6769"/>
              </a:lnSpc>
              <a:buNone/>
              <a:defRPr sz="4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4275" b="0" spc="-2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집중하고 싶습니다.”</a:t>
            </a:r>
            <a:endParaRPr sz="712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A66BA2-E2C3-4EE4-8DCE-BF42F002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2938"/>
            <a:ext cx="2286000" cy="314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9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ctr">
              <a:lnSpc>
                <a:spcPts val="784"/>
              </a:lnSpc>
              <a:buNone/>
              <a:defRPr sz="9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900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운영 담당자 관점 · 가상 인터뷰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7D63016-F93C-4E74-978E-4957DB7B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68F4E96-C805-41E1-B472-288E9091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06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9678785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706317C-4F11-4F3E-A1CC-44DC4768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95963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4D6EFEA-72BA-4C14-A4FC-388029A22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0025"/>
            <a:ext cx="5414963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72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자동화 설계의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핵심 원칙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DF3C7A0-11EB-430C-8CD4-B759BB81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163" y="2571750"/>
            <a:ext cx="2647950" cy="102393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AI는 정해진 기준으로 자료를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처리하고 초안을 작성합니다.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</a:pPr>
            <a:r>
              <a:rPr sz="1283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/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사람은 예외를 판단하고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공유 전 결과를 승인합니다.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20686AC-6F89-46E6-85BA-A4CC5B96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571750"/>
            <a:ext cx="5381625" cy="1714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>
            <a:defPPr algn="l">
              <a:defRPr sz="300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4061"/>
              </a:lnSpc>
              <a:buNone/>
              <a:defRPr sz="300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000" b="0" spc="-171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반복 처리는 AI가,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000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000" b="0" spc="-171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최종 판단은 사람이.</a:t>
            </a:r>
            <a:endParaRPr sz="427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C394832-57BF-4A83-A79F-16F62497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F6F0EB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803694D-D0D7-4B64-86FD-8DB139EB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07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5494974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D758201-6798-4768-8AEF-E6313950C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8" y="190500"/>
            <a:ext cx="8767763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4주 시험 운영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세 단계 실행 전략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F562F12-961A-447C-85BA-C52786FF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62038"/>
            <a:ext cx="2795588" cy="1581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C28ADC1-AC95-43BB-AF54-4146E2EE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062038"/>
            <a:ext cx="2795588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01 기준 정리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1주차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DEA1FC-3471-40AC-9CAF-A2E32400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2000250"/>
            <a:ext cx="2795588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입력 자료와 공통 양식을 정하고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처리 기준·예외·승인자를 확정합니다.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</a:pPr>
            <a:r>
              <a:rPr sz="1283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/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산출물  업무 지시서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9505F79-EFDE-474E-972E-7C548A4F8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062038"/>
            <a:ext cx="2795588" cy="1866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0C0F5A1-08F7-4703-81ED-A6E4D09C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1062038"/>
            <a:ext cx="2795588" cy="8572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02 제작과 검증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2~3주차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E7200A3-980F-422B-A202-4A9D4DCF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6588" y="2000250"/>
            <a:ext cx="2795588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취합과 초안 작성을 연결합니다.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정상·누락·오류 자료로 시험합니다.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</a:pPr>
            <a:r>
              <a:rPr sz="1283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/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산출물  자동화 도구·검증 기록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1B010270-598E-4FDD-A2D7-99BFD2F8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1062038"/>
            <a:ext cx="2795588" cy="137636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DCC3BFD-3877-4EE3-BF23-8A68014C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1062038"/>
            <a:ext cx="2795588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03 적용과 개선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2138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2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4주차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5A1DD10-11D5-4EDC-9F36-AB58D927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7913" y="2000250"/>
            <a:ext cx="2795588" cy="15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제한된 업무에 적용한 뒤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소요 시간과 수정 건수를 비교합니다.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</a:pPr>
            <a:r>
              <a:rPr sz="1283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/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산출물  운영 결과·개선안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2" name="Image 0">
            <a:extLst xmlns:a="http://schemas.openxmlformats.org/drawingml/2006/main">
              <a:ext uri="{FF2B5EF4-FFF2-40B4-BE49-F238E27FC236}">
                <a16:creationId xmlns:a16="http://schemas.microsoft.com/office/drawing/2014/main" id="{72C2915F-D51E-46D3-8CB4-B199D1D54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86bbf1bc94dd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81338" y="0"/>
            <a:ext cx="4763" cy="5143500"/>
          </a:xfrm>
          <a:prstGeom xmlns:a="http://schemas.openxmlformats.org/drawingml/2006/main" prst="rect">
            <a:avLst/>
          </a:prstGeom>
        </p:spPr>
      </p:pic>
      <p:pic>
        <p:nvPicPr>
          <p:cNvPr id="13" name="Image 1">
            <a:extLst xmlns:a="http://schemas.openxmlformats.org/drawingml/2006/main">
              <a:ext uri="{FF2B5EF4-FFF2-40B4-BE49-F238E27FC236}">
                <a16:creationId xmlns:a16="http://schemas.microsoft.com/office/drawing/2014/main" id="{31393E19-7A75-4ADB-B489-FBECBFD80F2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80683e588a4d9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90500" y="952500"/>
            <a:ext cx="8763000" cy="4763"/>
          </a:xfrm>
          <a:prstGeom xmlns:a="http://schemas.openxmlformats.org/drawingml/2006/main" prst="rect">
            <a:avLst/>
          </a:prstGeom>
        </p:spPr>
      </p:pic>
      <p:pic>
        <p:nvPicPr>
          <p:cNvPr id="14" name="Image 2">
            <a:extLst xmlns:a="http://schemas.openxmlformats.org/drawingml/2006/main">
              <a:ext uri="{FF2B5EF4-FFF2-40B4-BE49-F238E27FC236}">
                <a16:creationId xmlns:a16="http://schemas.microsoft.com/office/drawing/2014/main" id="{E86E4180-ED50-45A0-A2A1-9EC540A8D4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01fc1d7a22498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62663" y="0"/>
            <a:ext cx="4763" cy="5143500"/>
          </a:xfrm>
          <a:prstGeom xmlns:a="http://schemas.openxmlformats.org/drawingml/2006/main" prst="rect">
            <a:avLst/>
          </a:prstGeom>
        </p:spPr>
      </p:pic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C102D88E-5390-425B-BCA4-4384BA82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6" name="Text 11">
            <a:extLst xmlns:a="http://schemas.openxmlformats.org/drawingml/2006/main">
              <a:ext uri="{FF2B5EF4-FFF2-40B4-BE49-F238E27FC236}">
                <a16:creationId xmlns:a16="http://schemas.microsoft.com/office/drawing/2014/main" id="{67535DB8-7C20-46DF-BAF6-F79B9E41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08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62805404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B0D53B46-F768-4301-BD53-596D2B85D1D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6dfe04126c4963"/>
          <a:srcRect xmlns:a="http://schemas.openxmlformats.org/drawingml/2006/main" l="0" t="0" r="12100" b="0"/>
          <a:stretch xmlns:a="http://schemas.openxmlformats.org/drawingml/2006/main"/>
        </p:blipFill>
        <p:spPr>
          <a:xfrm xmlns:a="http://schemas.openxmlformats.org/drawingml/2006/main">
            <a:off x="3348038" y="571500"/>
            <a:ext cx="5795963" cy="4000500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6AE50D91-568E-4409-94CC-A0213EEAA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3476625" cy="1628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 상태를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한눈에 보는</a:t>
            </a:r>
            <a:endParaRPr sz="4275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4061"/>
              </a:lnSpc>
              <a:buNone/>
              <a:defRPr sz="3300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3300" b="0" spc="-171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운영 화면</a:t>
            </a:r>
            <a:endParaRPr sz="4275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C20B938E-03D8-43C7-B292-7AAA5313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171825"/>
            <a:ext cx="2447925" cy="143351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파일 접수부터 결과 승인까지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한 화면에서 확인합니다.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</a:pPr>
            <a:r>
              <a:rPr sz="1283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/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누락 자료와 검토 대상을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먼저 보여주는 구조입니다.</a:t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</a:pPr>
            <a:r>
              <a:rPr sz="1283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/>
            </a:r>
            <a:endParaRPr sz="1283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l">
              <a:lnSpc>
                <a:spcPts val="1539"/>
              </a:lnSpc>
              <a:buNone/>
              <a:defRPr sz="12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0" spc="-28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화면은 제안용 예시입니다.</a:t>
            </a:r>
            <a:endParaRPr sz="128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BA4A517C-59D1-41FE-85BC-DC9854B8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0FD7BCA3-75C8-4A8E-82F7-10E73E2A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09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C6597-F85F-4F6D-9C03-10105874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38200"/>
            <a:ext cx="5114925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C9CB2-F137-4B24-883D-BC981D40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38200"/>
            <a:ext cx="511492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DA1D6-8FBF-4B95-B8B2-142D140DF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971550"/>
            <a:ext cx="466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업무 자동화  /  주간 보고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EEDF37-CFDA-406D-A9D4-D8208C46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5240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접수 자료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951E4-0170-43A2-BEB0-8AF0288C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8288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12건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A7C0CE-B514-4B01-B9E0-73C625EF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381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D9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82B830-16D1-4523-BE4B-048BBB7B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5240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0F4AA5-702C-43E9-B092-5DCCD396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8288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2건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2DECC8-7ADE-4995-89AC-B386913D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381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D9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00F11C-E3FA-4475-BE87-0F246238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524000"/>
            <a:ext cx="1504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승인 완료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789F60-6D5A-4DBB-A099-C83BF3D1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28800"/>
            <a:ext cx="1504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23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10건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116132-E735-4689-9FA4-80B7F9BC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81250"/>
            <a:ext cx="1428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39D9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3FD2AF-7C11-44FE-94E6-8DA3DC54C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56222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3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최근 처리 내역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75782-0B4B-423B-940A-BFAA7A33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2952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영업 실적 취합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29B1ED-16C1-4DEB-ADA3-7BB9E434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527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B90550-87BA-4FB2-A513-4085B49F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2956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고객 문의 정리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B04FEF-5E27-4F1E-8FF8-A954FA62D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295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검토 필요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3EB688-8B08-47D5-ABE2-7E6A15667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385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주간 보고 초안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BC6B82-09E9-46ED-A09C-4EC4AA4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385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승인 대기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F88A98-E73B-4F27-8C2A-0D9F48D6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714375"/>
            <a:ext cx="2295525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46BD61-37A2-42DC-9DCB-56D6B3F3D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714375"/>
            <a:ext cx="217170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069052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0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Image 0">
            <a:extLst xmlns:a="http://schemas.openxmlformats.org/drawingml/2006/main">
              <a:ext uri="{FF2B5EF4-FFF2-40B4-BE49-F238E27FC236}">
                <a16:creationId xmlns:a16="http://schemas.microsoft.com/office/drawing/2014/main" id="{E6C7E934-891C-4A90-92CA-D5677BB1CF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03333a0fb428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290824" y="985838"/>
            <a:ext cx="6562353" cy="3976687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72D836AD-0D86-42B5-B67A-EF6DA71F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8763000" cy="5429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ctr"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승인 전 마지막 확인</a:t>
            </a:r>
            <a:endParaRPr sz="2138">
              <a:latin typeface="맑은 고딕"/>
              <a:ea typeface="맑은 고딕"/>
              <a:cs typeface="맑은 고딕"/>
            </a:endParaRPr>
          </a:p>
          <a:p xmlns:a="http://schemas.openxmlformats.org/drawingml/2006/main">
            <a:pPr marL="0" indent="0" algn="ctr">
              <a:lnSpc>
                <a:spcPts val="2031"/>
              </a:lnSpc>
              <a:buNone/>
              <a:defRPr sz="172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1725" b="0" spc="-85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근거와 예외를 함께 검토합니다</a:t>
            </a:r>
            <a:endParaRPr sz="2138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226A815-DB7D-413F-89FE-30E16649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962525"/>
            <a:ext cx="2857500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l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l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업무혁신팀  |  실습용 가상 사례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E67EA1E-D7F1-4CA9-B9F1-80678F80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962525"/>
            <a:ext cx="1190625" cy="10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>
            <a:defPPr algn="r"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 marL="0" indent="0" algn="r">
              <a:lnSpc>
                <a:spcPts val="784"/>
              </a:lnSpc>
              <a:buNone/>
              <a:defRPr sz="675" b="0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defRPr>
            </a:pPr>
            <a:r>
              <a:rPr sz="675" b="0" spc="-7">
                <a:solidFill>
                  <a:srgbClr val="000000">
                    <a:alpha val="99000"/>
                  </a:srgbClr>
                </a:solidFill>
                <a:latin typeface="맑은 고딕"/>
                <a:ea typeface="맑은 고딕"/>
                <a:cs typeface="맑은 고딕"/>
              </a:rPr>
              <a:t>2027.01  /  10</a:t>
            </a:r>
            <a:endParaRPr sz="713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4104F-0E50-4F80-85C6-52D4D248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247775"/>
            <a:ext cx="522922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9CD6CD-0AC0-4D40-B0A8-B3E95214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247775"/>
            <a:ext cx="52292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8E958-17FF-415E-9495-AF068063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362075"/>
            <a:ext cx="485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350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주간 보고 검토  /  2027년 1월 1주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396F16-6221-4C7C-ADE2-AAA706CE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6690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4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검토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043C71-8E4A-4F99-B5FE-077D0382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18669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20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20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확인 상태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44183-0FA0-43F8-AE5D-76A638C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669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원문 수치와 집계 결과 대조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1D3ECC-B1A7-44C3-8973-F51C13FD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확인 완료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6AB0C-0A1F-4B1E-A06F-562630C3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81275"/>
            <a:ext cx="48577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6A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2CFE1E-7D50-42EA-8889-59411E38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670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누락 자료와 예외 처리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8097E0-2140-4542-9727-F30C5708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2건 확인 필요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8463A8-A367-4816-A753-C9128C6D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981325"/>
            <a:ext cx="48577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6A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CED710-8489-4544-B8DF-097FF04E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67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해석과 제안의 적절성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1847C-B330-4813-B129-E6601E68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담당자 검토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FDA7CC-9789-41F4-9618-A147F51D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81375"/>
            <a:ext cx="48577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6A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E4EAFF-438A-4AC2-BCB9-EA6845063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6710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최종 공유 대상과 범위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D8D69C-69E0-41B7-AE78-E07F26BB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671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141414"/>
                </a:solidFill>
                <a:latin typeface="맑은 고딕"/>
                <a:ea typeface="맑은 고딕"/>
                <a:cs typeface="맑은 고딕"/>
              </a:rPr>
              <a:t>승인 대기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98F667-1745-46E3-B4A7-3B4F2D7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81425"/>
            <a:ext cx="4857750" cy="57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B6A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94B447-ED8D-42DB-94CB-7299DD4C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010025"/>
            <a:ext cx="1638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414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7DC53B-6219-4A04-A5B2-01163F78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076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defPPr>
          </a:lstStyle>
          <a:p xmlns:a="http://schemas.openxmlformats.org/drawingml/2006/main">
            <a:pPr>
              <a:defRPr sz="1125">
                <a:solidFill>
                  <a:srgbClr val="FFFF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검토 후 승인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D79C60-E107-46DA-9B0D-87A19955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33475"/>
            <a:ext cx="22955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B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A596B2-5CF5-4F18-802F-01DF2D21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133475"/>
            <a:ext cx="22955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696837355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2026-10-14T12:00:27.0410000Z</dcterms:created>
  <dcterms:modified xsi:type="dcterms:W3CDTF">2026-10-14T12:00:27.0410000Z</dcterms:modified>
</coreProperties>
</file>