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C2433"/>
                </a:solidFill>
                <a:latin typeface="Noto Sans KR"/>
              </a:rPr>
              <a:t>취합·정리에 전체 6.5시간 중 62% 소요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주간 소요 시간(시간)</c:v>
                </c:pt>
              </c:strCache>
            </c:strRef>
          </c:tx>
          <c:spPr>
            <a:solidFill>
              <a:srgbClr val="A9C1DD"/>
            </a:solidFill>
          </c:spPr>
          <c:dPt>
            <c:idx val="3"/>
            <c:spPr>
              <a:solidFill>
                <a:srgbClr val="2B6CB0"/>
              </a:solidFill>
            </c:spPr>
          </c:dPt>
          <c:dPt>
            <c:idx val="4"/>
            <c:spPr>
              <a:solidFill>
                <a:srgbClr val="2B6CB0"/>
              </a:solidFill>
            </c:spPr>
          </c:dPt>
          <c:cat>
            <c:strRef>
              <c:f>Sheet1!$A$2:$A$6</c:f>
              <c:strCache>
                <c:ptCount val="5"/>
                <c:pt idx="0">
                  <c:v>검토·수정</c:v>
                </c:pt>
                <c:pt idx="1">
                  <c:v>보고서 작성</c:v>
                </c:pt>
                <c:pt idx="2">
                  <c:v>차트 작성</c:v>
                </c:pt>
                <c:pt idx="3">
                  <c:v>정리·가공</c:v>
                </c:pt>
                <c:pt idx="4">
                  <c:v>데이터 취합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1.0</c:v>
                </c:pt>
                <c:pt idx="2">
                  <c:v>1.0</c:v>
                </c:pt>
                <c:pt idx="3">
                  <c:v>1.5</c:v>
                </c:pt>
                <c:pt idx="4">
                  <c:v>2.5</c:v>
                </c:pt>
              </c:numCache>
            </c:numRef>
          </c:val>
        </c:ser>
        <c:dLbls>
          <c:numFmt formatCode="0.0&quot;h&quot;" sourceLinked="0"/>
          <c:txPr>
            <a:bodyPr/>
            <a:lstStyle/>
            <a:p>
              <a:pPr>
                <a:defRPr sz="1000">
                  <a:solidFill>
                    <a:srgbClr val="1C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5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575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멀캠컴퍼니 기획팀 김멀캠입니다.</a:t>
            </a:r>
          </a:p>
          <a:p>
            <a:r>
              <a:t>오늘은 영업기획팀의 주간 판매 보고 업무를 AI로 자동화하는 기획안을 보고드립니다.</a:t>
            </a:r>
          </a:p>
          <a:p>
            <a:r>
              <a:t>핵심은 보고서를 만드는 데 쓰는 시간을 줄이고, 그 시간을 판매 분석과 실행에 쓰자는 것입니다.</a:t>
            </a:r>
          </a:p>
          <a:p/>
          <a:p>
            <a:r>
              <a:t>※ 본 문서의 수치·사례는 교육 실습용 가상 데이터입니다.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보고 순서입니다.</a:t>
            </a:r>
          </a:p>
          <a:p>
            <a:r>
              <a:t>요약을 먼저 말씀드리고, 배경과 목표, 실행 방안, 일정과 예산을 거쳐</a:t>
            </a:r>
          </a:p>
          <a:p>
            <a:r>
              <a:t>마지막에 의사결정이 필요한 세 가지 사항을 요청드리겠습니다.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 문장으로 요약하면, 주간 판매 보고서를 AI로 만들어 작성 시간을 70% 줄이는 것입니다.</a:t>
            </a:r>
          </a:p>
          <a:p>
            <a:r>
              <a:t>영업기획팀에서 12주간 시범 운영하고, 예산은 1,140만 원입니다.</a:t>
            </a:r>
          </a:p>
          <a:p>
            <a:r>
              <a:t>성과는 도입 전 8주 평균과 비교해 확인하겠습니다.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영업기획팀은 주간 판매 보고서 한 건에 평균 6.5시간을 씁니다.</a:t>
            </a:r>
          </a:p>
          <a:p>
            <a:r>
              <a:t>이 가운데 4시간, 약 62%가 데이터를 모으고 정리하는 데 들어갑니다. 정작 분석에는 시간을 거의 못 쓰는 구조입니다.</a:t>
            </a:r>
          </a:p>
          <a:p>
            <a:r>
              <a:t>오른쪽은 비슷한 업무를 자동화한 사례입니다. 실습용 가상 사례이므로, 실제 추진 시에는 공개 자료로 검증하겠습니다.</a:t>
            </a:r>
          </a:p>
          <a:p>
            <a:r>
              <a:t>그래서 이번 기획은 취합 단계부터 자동화하는 데 초점을 맞췄습니다.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목표는 세 가지 지표로 관리합니다.</a:t>
            </a:r>
          </a:p>
          <a:p>
            <a:r>
              <a:t>작성 시간은 주 6.5시간에서 2시간 이내로, 자동화율은 15%에서 60% 이상으로, 수정 요청은 보고서당 0.5건 이하로 낮추겠습니다.</a:t>
            </a:r>
          </a:p>
          <a:p>
            <a:r>
              <a:t>현재 수치는 지난 8주 실측값이며, 같은 방식으로 다시 측정해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실행은 세 단계입니다.</a:t>
            </a:r>
          </a:p>
          <a:p>
            <a:r>
              <a:t>먼저 주간 판매 보고서 한 종류만 대상으로 정하고, 취합부터 초안까지 네 단계를 자동화합니다.</a:t>
            </a:r>
          </a:p>
          <a:p>
            <a:r>
              <a:t>다음으로 IT지원팀과 계정·권한을 준비하고 담당자 교육을 진행합니다.</a:t>
            </a:r>
          </a:p>
          <a:p>
            <a:r>
              <a:t>마지막으로 데이터팀이 성과를 측정해, 목표를 달성하면 전사 확대를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일정은 11월부터 1월까지 12주입니다.</a:t>
            </a:r>
          </a:p>
          <a:p>
            <a:r>
              <a:t>11월에 현황 측정과 설계를 마치고, 12월부터 영업기획팀에서 시범 운영합니다.</a:t>
            </a:r>
          </a:p>
          <a:p>
            <a:r>
              <a:t>점검은 세 번입니다. 11월 말 운영 전 확인, 12월 말 중간 점검, 1월 말 확대 여부 판단입니다.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예산은 총 1,140만 원, 부가세 별도입니다.</a:t>
            </a:r>
          </a:p>
          <a:p>
            <a:r>
              <a:t>가장 큰 항목은 판매 시트 연동 개발비 600만 원이며, IT지원팀 검토 후 확정하겠습니다.</a:t>
            </a:r>
          </a:p>
          <a:p>
            <a:r>
              <a:t>구독료는 시범 기간 3개월분만 반영했습니다.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기대 효과입니다.</a:t>
            </a:r>
          </a:p>
          <a:p>
            <a:r>
              <a:t>정량적으로는 작성 시간 70% 단축, 자동화율 60%, 수정 요청 0.5건을 목표로 합니다.</a:t>
            </a:r>
          </a:p>
          <a:p>
            <a:r>
              <a:t>다만 이 수치는 목표치이며, 시범 운영 결과로 검증하겠습니다.</a:t>
            </a:r>
          </a:p>
          <a:p>
            <a:r>
              <a:t>정성적으로는 반복 업무 부담이 줄고, 확보한 시간을 채널별 원인 분석에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가장 큰 리스크는 정보 노출과 결과 오류입니다.</a:t>
            </a:r>
          </a:p>
          <a:p>
            <a:r>
              <a:t>판매 데이터는 기업용 계정에서만 다루고, AI가 만든 숫자는 반드시 원본과 대조해 검수하겠습니다.</a:t>
            </a:r>
          </a:p>
          <a:p>
            <a:r>
              <a:t>활용 저조는 교육과 주간 피드백으로, 비용 확대는 시범 범위를 한 종류로 제한해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 결정을 요청드리는 사항은 세 가지입니다.</a:t>
            </a:r>
          </a:p>
          <a:p>
            <a:r>
              <a:t>첫째, 12주 시범 운영 방향 승인. 둘째, 예산과 인력 조건 검토. 셋째, IT지원팀·재무팀과의 협의 진행입니다.</a:t>
            </a:r>
          </a:p>
          <a:p>
            <a:r>
              <a:t>승인해 주시면 11월 첫 주부터 현황 측정을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98241"/>
            <a:ext cx="10566400" cy="424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98241"/>
            <a:ext cx="10566400" cy="424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9C1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기획팀 · 내부 검토용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0" y="2126456"/>
            <a:ext cx="609600" cy="50800"/>
          </a:xfrm>
          <a:prstGeom prst="rect">
            <a:avLst/>
          </a:prstGeom>
          <a:solidFill>
            <a:srgbClr val="5FB49C"/>
          </a:solidFill>
          <a:ln/>
        </p:spPr>
        <p:txBody>
          <a:bodyPr/>
          <a:p/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380456"/>
            <a:ext cx="10883392" cy="131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주간 판매보고 자동화</a:t>
            </a:r>
            <a:endParaRPr lang="en-US" sz="4400" dirty="0"/>
          </a:p>
          <a:p>
            <a:pPr algn="l" indent="0" marL="0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4F6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기획안</a:t>
            </a:r>
          </a:p>
        </p:txBody>
      </p:sp>
      <p:sp>
        <p:nvSpPr>
          <p:cNvPr id="5" name="Text 3"/>
          <p:cNvSpPr/>
          <p:nvPr/>
        </p:nvSpPr>
        <p:spPr>
          <a:xfrm>
            <a:off x="812800" y="386887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6.5시간 걸리는 판매 보고서 작성을 AI로 자동화해, 분석과 실행에 집중합니다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5277115"/>
            <a:ext cx="10566400" cy="0"/>
          </a:xfrm>
          <a:prstGeom prst="line">
            <a:avLst/>
          </a:prstGeom>
          <a:noFill/>
          <a:ln w="6350">
            <a:solidFill>
              <a:srgbClr val="3D5A8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12800" y="5532173"/>
            <a:ext cx="12214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1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5796293"/>
            <a:ext cx="16916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11월 02일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93049" y="5532173"/>
            <a:ext cx="9810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1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93049" y="5796293"/>
            <a:ext cx="16916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기획팀 / 김멀캠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32924" y="5532173"/>
            <a:ext cx="13092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1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문서번호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32924" y="5796293"/>
            <a:ext cx="16916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MC-PLN-2026-114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01015" y="5532173"/>
            <a:ext cx="11446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1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보안등급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01015" y="5796293"/>
            <a:ext cx="16916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한정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8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94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51256"/>
            <a:ext cx="10883392" cy="322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68"/>
              </a:lnSpc>
              <a:buNone/>
            </a:pPr>
            <a:r>
              <a:rPr lang="en-US" sz="2153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153" dirty="0"/>
          </a:p>
        </p:txBody>
      </p:sp>
      <p:sp>
        <p:nvSpPr>
          <p:cNvPr id="4" name="Shape 2"/>
          <p:cNvSpPr/>
          <p:nvPr/>
        </p:nvSpPr>
        <p:spPr>
          <a:xfrm>
            <a:off x="812800" y="2081676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793478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784548"/>
            <a:ext cx="4206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081676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0" y="1793478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59600" y="1784548"/>
            <a:ext cx="8927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예산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020947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800" y="2732749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23820"/>
            <a:ext cx="8927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배경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3020947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2732749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59600" y="2723820"/>
            <a:ext cx="8927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00" y="3960217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2800" y="3672020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63090"/>
            <a:ext cx="11544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및 목표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3960217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0" y="3672020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59600" y="3663090"/>
            <a:ext cx="13647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및 대응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2800" y="4899488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12800" y="4611291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602361"/>
            <a:ext cx="8927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방안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4899488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0" y="4611291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59600" y="4602361"/>
            <a:ext cx="17853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사항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2800" y="5838826"/>
            <a:ext cx="49784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2800" y="5550562"/>
            <a:ext cx="406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5541698"/>
            <a:ext cx="8927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일정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5975" y="1801416"/>
            <a:ext cx="10560050" cy="120861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305858" tIns="280458" rIns="7408" bIns="255058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판매 보고 업무에 AI 데이터 정리·초안 작성을 적용하여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 시간을 주 6.5시간에서 2시간 이내로 줄입니다</a:t>
            </a:r>
          </a:p>
        </p:txBody>
      </p:sp>
      <p:sp>
        <p:nvSpPr>
          <p:cNvPr id="5" name="Shape 3"/>
          <p:cNvSpPr/>
          <p:nvPr/>
        </p:nvSpPr>
        <p:spPr>
          <a:xfrm>
            <a:off x="815975" y="3321183"/>
            <a:ext cx="2520950" cy="1320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5633" y="3550841"/>
            <a:ext cx="2123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5633" y="3840361"/>
            <a:ext cx="21234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작성 시간 단축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5633" y="4183261"/>
            <a:ext cx="21234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분석·실행 시간 확보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5675" y="3321183"/>
            <a:ext cx="2520950" cy="1320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25333" y="3550841"/>
            <a:ext cx="2123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5333" y="3840361"/>
            <a:ext cx="21234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시범 운영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5333" y="4183261"/>
            <a:ext cx="21234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~ 2027.01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3321183"/>
            <a:ext cx="2520950" cy="1320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5033" y="3550841"/>
            <a:ext cx="2123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5033" y="3840361"/>
            <a:ext cx="21234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1,140만 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5033" y="4183261"/>
            <a:ext cx="21234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구독·연동·교육 포함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5075" y="3321183"/>
            <a:ext cx="2520950" cy="1320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84734" y="3550841"/>
            <a:ext cx="2123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84734" y="3840361"/>
            <a:ext cx="21234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시간 70% 단축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84734" y="4183261"/>
            <a:ext cx="212348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 8주 평균 대비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배경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01416"/>
            <a:ext cx="517525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6433" y="2056474"/>
            <a:ext cx="47527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업무 현황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42245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lnSpc>
                <a:spcPts val="208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2026년 8~9월 8주 평균 · 영업기획팀 3명 기준 · 실습용 가상 데이터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801416"/>
            <a:ext cx="517525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81233" y="2056474"/>
            <a:ext cx="47527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기업의 도입 사례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83096" y="42245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lnSpc>
                <a:spcPts val="208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실습용 가상 사례 · 실제 도입 시 공개 자료로 검증 필요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4773168"/>
            <a:ext cx="10566400" cy="655307"/>
          </a:xfrm>
          <a:prstGeom prst="rect">
            <a:avLst/>
          </a:prstGeom>
          <a:solidFill>
            <a:srgbClr val="E8F0F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2200" y="4983480"/>
            <a:ext cx="812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시사점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06600" y="4974336"/>
            <a:ext cx="91440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시간의 대부분은 분석이 아닌 취합·정리에 쓰임 → 자동화는 취합 단계부터 / 판매 시스템 접근 권한 확인 필요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graphicFrame>
        <p:nvGraphicFramePr>
          <p:cNvPr id="15" name="Chart 업무별 소요 시간"/>
          <p:cNvGraphicFramePr>
            <a:graphicFrameLocks noGrp="1"/>
          </p:cNvGraphicFramePr>
          <p:nvPr/>
        </p:nvGraphicFramePr>
        <p:xfrm>
          <a:off x="1005840" y="2304288"/>
          <a:ext cx="480060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6" name="Table 사례 비교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3096" y="2286000"/>
          <a:ext cx="466344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508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(가상)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업무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 · 유통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주간 판매 보고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F855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작성 시간 65%↓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 · 제조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재고 현황 리포트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F855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수기 오류 40%↓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C사 · 이커머스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프로모션 성과 보고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F855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 주기 주→일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및 목표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01416"/>
            <a:ext cx="10560050" cy="72601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21833" y="2048867"/>
            <a:ext cx="6604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34633" y="2031076"/>
            <a:ext cx="9144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반복되는 판매 데이터 취합·보고서 작성 시간을 줄여, 분석과 실행에 집중할 시간을 확보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835408"/>
            <a:ext cx="10566400" cy="19023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848108"/>
          <a:ext cx="10553700" cy="1889654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4724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지표 (KPI)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측정 방법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24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 처리 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 6.5시간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 2시간 이내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전후 8주 평균 비교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반복 업무 자동화율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60% 이상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 처리 단계 ÷ 전체 10단계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산출물 오류율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보고서당 2.4건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0.5건 이하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팀장 검토 시 수정 요청 건수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01416"/>
            <a:ext cx="3380317" cy="2586831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71033" y="2056476"/>
            <a:ext cx="2956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033" y="2539076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업무 선정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677" y="2894676"/>
            <a:ext cx="287604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판매 보고서 1종</a:t>
            </a:r>
            <a:endParaRPr lang="en-US" sz="1300" dirty="0"/>
          </a:p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취합·정리·차트·초안 자동화</a:t>
            </a:r>
          </a:p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기준: 팀장 승인</a:t>
            </a:r>
          </a:p>
        </p:txBody>
      </p:sp>
      <p:sp>
        <p:nvSpPr>
          <p:cNvPr id="8" name="Shape 6"/>
          <p:cNvSpPr/>
          <p:nvPr/>
        </p:nvSpPr>
        <p:spPr>
          <a:xfrm>
            <a:off x="1071033" y="3817212"/>
            <a:ext cx="2870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1033" y="3919870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· 기획팀 / 영업기획팀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5842" y="1801416"/>
            <a:ext cx="3380317" cy="2586831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0900" y="2056476"/>
            <a:ext cx="2956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0900" y="2539076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도입·운영 준비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33544" y="2894676"/>
            <a:ext cx="287604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기업용 AI 계정·권한 설정</a:t>
            </a:r>
            <a:endParaRPr lang="en-US" sz="1300" dirty="0"/>
          </a:p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실습 교육 4시간</a:t>
            </a:r>
          </a:p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문의 창구 운영</a:t>
            </a:r>
          </a:p>
        </p:txBody>
      </p:sp>
      <p:sp>
        <p:nvSpPr>
          <p:cNvPr id="14" name="Shape 12"/>
          <p:cNvSpPr/>
          <p:nvPr/>
        </p:nvSpPr>
        <p:spPr>
          <a:xfrm>
            <a:off x="4660900" y="3817212"/>
            <a:ext cx="2870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60900" y="3919870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· IT지원팀 / 영업기획팀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5709" y="1801416"/>
            <a:ext cx="3380317" cy="2586831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50767" y="2056476"/>
            <a:ext cx="2956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50767" y="2539076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확인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3411" y="2894676"/>
            <a:ext cx="287604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시간·수정 건수 측정</a:t>
            </a:r>
            <a:endParaRPr lang="en-US" sz="1300" dirty="0"/>
          </a:p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 8주 평균과 비교</a:t>
            </a:r>
          </a:p>
          <a:p>
            <a:pPr algn="l" marL="181356" indent="-181356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달성 시 전사 확대</a:t>
            </a:r>
          </a:p>
        </p:txBody>
      </p:sp>
      <p:sp>
        <p:nvSpPr>
          <p:cNvPr id="20" name="Shape 18"/>
          <p:cNvSpPr/>
          <p:nvPr/>
        </p:nvSpPr>
        <p:spPr>
          <a:xfrm>
            <a:off x="8250767" y="3817212"/>
            <a:ext cx="2870200" cy="0"/>
          </a:xfrm>
          <a:prstGeom prst="line">
            <a:avLst/>
          </a:prstGeom>
          <a:noFill/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50767" y="3919870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· 데이터팀 / 기획팀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1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5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5401"/>
            <a:ext cx="10883392" cy="36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4"/>
              </a:lnSpc>
              <a:buNone/>
            </a:pPr>
            <a:r>
              <a:rPr lang="en-US" sz="2476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일정</a:t>
            </a:r>
            <a:endParaRPr lang="en-US" sz="2476" dirty="0"/>
          </a:p>
        </p:txBody>
      </p:sp>
      <p:sp>
        <p:nvSpPr>
          <p:cNvPr id="4" name="Shape 2"/>
          <p:cNvSpPr/>
          <p:nvPr/>
        </p:nvSpPr>
        <p:spPr>
          <a:xfrm>
            <a:off x="812800" y="1721976"/>
            <a:ext cx="10566400" cy="36257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34676"/>
          <a:ext cx="10553700" cy="3613084"/>
        </p:xfrm>
        <a:graphic>
          <a:graphicData uri="http://schemas.openxmlformats.org/drawingml/2006/table">
            <a:tbl>
              <a:tblPr/>
              <a:tblGrid>
                <a:gridCol w="1319213"/>
                <a:gridCol w="1319213"/>
                <a:gridCol w="1319213"/>
                <a:gridCol w="1319213"/>
                <a:gridCol w="1319213"/>
                <a:gridCol w="1319213"/>
                <a:gridCol w="1319213"/>
                <a:gridCol w="1319213"/>
              </a:tblGrid>
              <a:tr h="460573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주요 활동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11월 1~2주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11월 3~4주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12월 1~2주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12월 3~4주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1월 1~2주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1월 3~4주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67296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준비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판매 보고 현황·소요 시간 측정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96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설계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프롬프트·시트 연동 설계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lnSpc>
                          <a:spcPts val="1672"/>
                        </a:lnSpc>
                        <a:buNone/>
                      </a:pPr>
                      <a:r>
                        <a:rPr b="1" sz="1200">
                          <a:solidFill>
                            <a:srgbClr val="2B6CB0"/>
                          </a:solidFill>
                        </a:rPr>
                        <a:t>◆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640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영업기획팀 시범 운영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</a:tr>
              <a:tr h="67296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시간·오류·비용 점검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lnSpc>
                          <a:spcPts val="1672"/>
                        </a:lnSpc>
                        <a:buNone/>
                      </a:pPr>
                      <a:r>
                        <a:rPr b="1" sz="1200">
                          <a:solidFill>
                            <a:srgbClr val="2B6CB0"/>
                          </a:solidFill>
                        </a:rPr>
                        <a:t>◆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</a:tr>
              <a:tr h="672968"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r>
                        <a:rPr lang="en-US" sz="1194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전사 확대 여부 결정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72"/>
                        </a:lnSpc>
                        <a:buNone/>
                      </a:pP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algn="ctr">
                        <a:lnSpc>
                          <a:spcPts val="1672"/>
                        </a:lnSpc>
                        <a:buNone/>
                      </a:pPr>
                      <a:r>
                        <a:rPr b="1" sz="1200">
                          <a:solidFill>
                            <a:srgbClr val="2B6CB0"/>
                          </a:solidFill>
                        </a:rPr>
                        <a:t>◆</a:t>
                      </a:r>
                      <a:endParaRPr lang="en-US" sz="1194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0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652560"/>
            <a:ext cx="10883392" cy="21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◆ 점검 시점: 11월 말 운영 전 확인 · 12월 말 중간 점검 · 1월 말 확대 여부 판단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예산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98241"/>
            <a:ext cx="10566400" cy="26947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0941"/>
          <a:ext cx="10553700" cy="2682081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4470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내용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 (만 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470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도구 구독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기업용 AI 5석 × 3개월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석당 월 12만 원 견적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연동·개발 비용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판매 시트 연동·자동화 스크립트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외주 15일 × 40만 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교육·운영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담당자 교육·운영 매뉴얼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영업기획팀 5명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안내·예비비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사내 안내·추가 대응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총액의 약 10%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t/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부가세 별도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01600" marB="1016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79782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실습용 가상 견적 기준 / 연동·개발 비용은 IT지원팀 검토 후 확정(확인 필요)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01416"/>
            <a:ext cx="5175250" cy="29518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6433" y="2056476"/>
            <a:ext cx="47527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효과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6433" y="3063348"/>
            <a:ext cx="4614333" cy="0"/>
          </a:xfrm>
          <a:prstGeom prst="line">
            <a:avLst/>
          </a:prstGeom>
          <a:noFill/>
          <a:ln w="6350">
            <a:solidFill>
              <a:srgbClr val="E6EA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6433" y="2437476"/>
            <a:ext cx="15748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70%↓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72833" y="2653376"/>
            <a:ext cx="2971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작성 시간 (주 6.5h → 2h)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6433" y="3844795"/>
            <a:ext cx="4614333" cy="0"/>
          </a:xfrm>
          <a:prstGeom prst="line">
            <a:avLst/>
          </a:prstGeom>
          <a:noFill/>
          <a:ln w="6350">
            <a:solidFill>
              <a:srgbClr val="E6EA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6433" y="3218923"/>
            <a:ext cx="15748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72833" y="3434823"/>
            <a:ext cx="2971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단계 자동화율 (15% → 60%)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6433" y="4000370"/>
            <a:ext cx="157480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0.5건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72833" y="4216270"/>
            <a:ext cx="29718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보고서당 수정 요청 (2.4건 → 0.5건)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00775" y="1801416"/>
            <a:ext cx="5175250" cy="29518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81233" y="2056476"/>
            <a:ext cx="47527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 효과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3877" y="2437476"/>
            <a:ext cx="4672499" cy="1213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취합 업무 부담 감소</a:t>
            </a:r>
            <a:endParaRPr lang="en-US" sz="1300" dirty="0"/>
          </a:p>
          <a:p>
            <a:pPr algn="l" marL="181356" indent="-181356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형식 통일로 협업 편의 향상</a:t>
            </a:r>
          </a:p>
          <a:p>
            <a:pPr algn="l" marL="181356" indent="-181356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확보한 시간을 채널별 원인 분석에 활용</a:t>
            </a:r>
          </a:p>
          <a:p>
            <a:pPr algn="l" marL="181356" indent="-181356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2E37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수치는 목표치이며, 시범 운영 후 검증</a:t>
            </a:r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및 대응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98241"/>
            <a:ext cx="10566400" cy="2628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0941"/>
          <a:ext cx="10553700" cy="2616068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5232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예상 리스크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 방안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232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성과 측정의 어려움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전 8주 소요 시간을 기준선으로 기록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현업 활용 저조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6CB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교육 후 주 1회 현업 피드백 반영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증가·범위 확대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57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시범 범위를 판매 보고 1종으로 제한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14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정보 노출·결과 오류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C0562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4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기업용 계정 사용·숫자 원본 대조 검수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77800" marR="177800" marT="139700" marB="1397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사항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01416"/>
            <a:ext cx="6699250" cy="9088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71033" y="2095835"/>
            <a:ext cx="35560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3633" y="2005676"/>
            <a:ext cx="182779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방향 승인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3633" y="2292685"/>
            <a:ext cx="5669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판매 보고 자동화 12주 시범 운영 (영업기획팀 대상)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843609"/>
            <a:ext cx="6699250" cy="9088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1033" y="3138029"/>
            <a:ext cx="35560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3633" y="3047870"/>
            <a:ext cx="178671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조건 검토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3633" y="3334879"/>
            <a:ext cx="5669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1,140만 원 · 담당 2명 · 기업용 AI 계정 사용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885803"/>
            <a:ext cx="6699250" cy="9088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1033" y="4180222"/>
            <a:ext cx="355600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3633" y="4090064"/>
            <a:ext cx="230532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유관 부서 협의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3633" y="4377072"/>
            <a:ext cx="5669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IT지원팀(시트 연동·보안), 재무팀(예산 집행) 협의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23200" y="1798241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23200" y="2113161"/>
            <a:ext cx="3556000" cy="7695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35900" y="2125861"/>
          <a:ext cx="3543300" cy="756841"/>
        </p:xfrm>
        <a:graphic>
          <a:graphicData uri="http://schemas.openxmlformats.org/drawingml/2006/table">
            <a:tbl>
              <a:tblPr/>
              <a:tblGrid>
                <a:gridCol w="885825"/>
                <a:gridCol w="885825"/>
                <a:gridCol w="885825"/>
                <a:gridCol w="885825"/>
              </a:tblGrid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팀장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본부장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03B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멀캠컴퍼니 · 내부 검토용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[프로젝트명] 추진 기획안">
  <a:themeElements>
    <a:clrScheme name="[프로젝트명] 추진 기획안">
      <a:dk1>
        <a:srgbClr val="1C2433"/>
      </a:dk1>
      <a:lt1>
        <a:srgbClr val="F7F8FA"/>
      </a:lt1>
      <a:dk2>
        <a:srgbClr val="535965"/>
      </a:dk2>
      <a:lt2>
        <a:srgbClr val="E1E3E6"/>
      </a:lt2>
      <a:accent1>
        <a:srgbClr val="2B6CB0"/>
      </a:accent1>
      <a:accent2>
        <a:srgbClr val="A9C1DD"/>
      </a:accent2>
      <a:accent3>
        <a:srgbClr val="1F3A5F"/>
      </a:accent3>
      <a:accent4>
        <a:srgbClr val="2F855A"/>
      </a:accent4>
      <a:accent5>
        <a:srgbClr val="5FB49C"/>
      </a:accent5>
      <a:accent6>
        <a:srgbClr val="8A93A3"/>
      </a:accent6>
      <a:hlink>
        <a:srgbClr val="0563C1"/>
      </a:hlink>
      <a:folHlink>
        <a:srgbClr val="954F72"/>
      </a:folHlink>
    </a:clrScheme>
    <a:fontScheme name="[프로젝트명] 추진 기획안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주간 판매보고 자동화 추진 기획안</dc:title>
  <dc:subject>업무 개선·AX 추진 기획안 작성 및 템플릿 분석 실습</dc:subject>
  <dc:creator>멀캠컴퍼니 기획팀</dc:creator>
  <cp:lastModifiedBy/>
  <cp:revision>1</cp:revision>
  <dcterms:created xsi:type="dcterms:W3CDTF">2026-10-20T11:35:12Z</dcterms:created>
  <dcterms:modified xsi:type="dcterms:W3CDTF">2026-10-20T11:35:12Z</dcterms:modified>
</cp:coreProperties>
</file>